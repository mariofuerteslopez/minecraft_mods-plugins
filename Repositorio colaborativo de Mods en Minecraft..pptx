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nonymous Pro" panose="020B0604020202020204" charset="0"/>
      <p:regular r:id="rId14"/>
    </p:embeddedFont>
    <p:embeddedFont>
      <p:font typeface="Anonymous Pr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36377" y="7936471"/>
            <a:ext cx="3551623" cy="2350529"/>
          </a:xfrm>
          <a:custGeom>
            <a:avLst/>
            <a:gdLst/>
            <a:ahLst/>
            <a:cxnLst/>
            <a:rect l="l" t="t" r="r" b="b"/>
            <a:pathLst>
              <a:path w="3551623" h="2350529">
                <a:moveTo>
                  <a:pt x="0" y="0"/>
                </a:moveTo>
                <a:lnTo>
                  <a:pt x="3551623" y="0"/>
                </a:lnTo>
                <a:lnTo>
                  <a:pt x="3551623" y="2350529"/>
                </a:lnTo>
                <a:lnTo>
                  <a:pt x="0" y="2350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897" y="7948733"/>
            <a:ext cx="3551623" cy="2350529"/>
          </a:xfrm>
          <a:custGeom>
            <a:avLst/>
            <a:gdLst/>
            <a:ahLst/>
            <a:cxnLst/>
            <a:rect l="l" t="t" r="r" b="b"/>
            <a:pathLst>
              <a:path w="3551623" h="2350529">
                <a:moveTo>
                  <a:pt x="3551623" y="0"/>
                </a:moveTo>
                <a:lnTo>
                  <a:pt x="0" y="0"/>
                </a:lnTo>
                <a:lnTo>
                  <a:pt x="0" y="2350529"/>
                </a:lnTo>
                <a:lnTo>
                  <a:pt x="3551623" y="2350529"/>
                </a:lnTo>
                <a:lnTo>
                  <a:pt x="35516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74915" y="2034759"/>
            <a:ext cx="15484385" cy="287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53"/>
              </a:lnSpc>
            </a:pPr>
            <a:r>
              <a:rPr lang="en-US" sz="7823" b="1" dirty="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REPOSITORIO COLABORATIVO DE MODS EN MINECRAFT.</a:t>
            </a:r>
          </a:p>
          <a:p>
            <a:pPr algn="ctr">
              <a:lnSpc>
                <a:spcPts val="248"/>
              </a:lnSpc>
              <a:spcBef>
                <a:spcPct val="0"/>
              </a:spcBef>
            </a:pPr>
            <a:endParaRPr lang="en-US" sz="7823" b="1" dirty="0">
              <a:solidFill>
                <a:srgbClr val="C1FF72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2320288" y="2809428"/>
            <a:ext cx="3423515" cy="2798724"/>
          </a:xfrm>
          <a:custGeom>
            <a:avLst/>
            <a:gdLst/>
            <a:ahLst/>
            <a:cxnLst/>
            <a:rect l="l" t="t" r="r" b="b"/>
            <a:pathLst>
              <a:path w="3423515" h="2798724">
                <a:moveTo>
                  <a:pt x="0" y="0"/>
                </a:moveTo>
                <a:lnTo>
                  <a:pt x="3423516" y="0"/>
                </a:lnTo>
                <a:lnTo>
                  <a:pt x="3423516" y="2798724"/>
                </a:lnTo>
                <a:lnTo>
                  <a:pt x="0" y="2798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2544196" y="2809428"/>
            <a:ext cx="3423515" cy="2798724"/>
          </a:xfrm>
          <a:custGeom>
            <a:avLst/>
            <a:gdLst/>
            <a:ahLst/>
            <a:cxnLst/>
            <a:rect l="l" t="t" r="r" b="b"/>
            <a:pathLst>
              <a:path w="3423515" h="2798724">
                <a:moveTo>
                  <a:pt x="3423516" y="0"/>
                </a:moveTo>
                <a:lnTo>
                  <a:pt x="0" y="0"/>
                </a:lnTo>
                <a:lnTo>
                  <a:pt x="0" y="2798724"/>
                </a:lnTo>
                <a:lnTo>
                  <a:pt x="3423516" y="2798724"/>
                </a:lnTo>
                <a:lnTo>
                  <a:pt x="3423516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5063866"/>
            <a:ext cx="637073" cy="159268"/>
          </a:xfrm>
          <a:custGeom>
            <a:avLst/>
            <a:gdLst/>
            <a:ahLst/>
            <a:cxnLst/>
            <a:rect l="l" t="t" r="r" b="b"/>
            <a:pathLst>
              <a:path w="637073" h="159268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622227" y="5063866"/>
            <a:ext cx="637073" cy="159268"/>
          </a:xfrm>
          <a:custGeom>
            <a:avLst/>
            <a:gdLst/>
            <a:ahLst/>
            <a:cxnLst/>
            <a:rect l="l" t="t" r="r" b="b"/>
            <a:pathLst>
              <a:path w="637073" h="159268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1201882" y="2898024"/>
            <a:ext cx="4687762" cy="7494969"/>
          </a:xfrm>
          <a:custGeom>
            <a:avLst/>
            <a:gdLst/>
            <a:ahLst/>
            <a:cxnLst/>
            <a:rect l="l" t="t" r="r" b="b"/>
            <a:pathLst>
              <a:path w="4687762" h="7494969">
                <a:moveTo>
                  <a:pt x="0" y="0"/>
                </a:moveTo>
                <a:lnTo>
                  <a:pt x="4687762" y="0"/>
                </a:lnTo>
                <a:lnTo>
                  <a:pt x="4687762" y="7494969"/>
                </a:lnTo>
                <a:lnTo>
                  <a:pt x="0" y="74949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5819633"/>
            <a:ext cx="7634988" cy="3438667"/>
            <a:chOff x="0" y="0"/>
            <a:chExt cx="8459470" cy="381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59470" cy="3808730"/>
            </a:xfrm>
            <a:custGeom>
              <a:avLst/>
              <a:gdLst/>
              <a:ahLst/>
              <a:cxnLst/>
              <a:rect l="l" t="t" r="r" b="b"/>
              <a:pathLst>
                <a:path w="8459470" h="380873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5"/>
              <a:stretch>
                <a:fillRect t="-12467" b="-12467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2625946"/>
            <a:ext cx="8048510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90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INTRODUCCION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05861" y="5365654"/>
            <a:ext cx="6279803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Este proyecto consiste en la creación y gestión de un repositorio colaborativo en GitHub cuyo objetivo es almacenar, organizar y documentar mods de Minecraft para facilitar la experiencia al jugador principiante.</a:t>
            </a:r>
          </a:p>
          <a:p>
            <a:pPr algn="l">
              <a:lnSpc>
                <a:spcPts val="2953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l">
              <a:lnSpc>
                <a:spcPts val="2953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0798" y="3950322"/>
            <a:ext cx="7896939" cy="5929883"/>
          </a:xfrm>
          <a:custGeom>
            <a:avLst/>
            <a:gdLst/>
            <a:ahLst/>
            <a:cxnLst/>
            <a:rect l="l" t="t" r="r" b="b"/>
            <a:pathLst>
              <a:path w="7896939" h="5929883">
                <a:moveTo>
                  <a:pt x="0" y="0"/>
                </a:moveTo>
                <a:lnTo>
                  <a:pt x="7896939" y="0"/>
                </a:lnTo>
                <a:lnTo>
                  <a:pt x="7896939" y="5929883"/>
                </a:lnTo>
                <a:lnTo>
                  <a:pt x="0" y="59298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144000" y="2399132"/>
            <a:ext cx="8698006" cy="6859168"/>
            <a:chOff x="0" y="0"/>
            <a:chExt cx="7279313" cy="5740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80584" cy="5741670"/>
            </a:xfrm>
            <a:custGeom>
              <a:avLst/>
              <a:gdLst/>
              <a:ahLst/>
              <a:cxnLst/>
              <a:rect l="l" t="t" r="r" b="b"/>
              <a:pathLst>
                <a:path w="7280584" h="57416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78070" y="2933700"/>
                    <a:pt x="621653" y="2933700"/>
                  </a:cubicBezTo>
                  <a:lnTo>
                    <a:pt x="1316100" y="2933700"/>
                  </a:lnTo>
                  <a:cubicBezTo>
                    <a:pt x="1659683" y="2933700"/>
                    <a:pt x="1937753" y="3176270"/>
                    <a:pt x="1937753" y="3475990"/>
                  </a:cubicBezTo>
                  <a:lnTo>
                    <a:pt x="1937753" y="5199380"/>
                  </a:lnTo>
                  <a:cubicBezTo>
                    <a:pt x="1937753" y="5499100"/>
                    <a:pt x="2215823" y="5741670"/>
                    <a:pt x="2559407" y="5741670"/>
                  </a:cubicBezTo>
                  <a:lnTo>
                    <a:pt x="4125915" y="5741670"/>
                  </a:lnTo>
                  <a:cubicBezTo>
                    <a:pt x="4281692" y="5741670"/>
                    <a:pt x="4433102" y="5689600"/>
                    <a:pt x="4548115" y="5598160"/>
                  </a:cubicBezTo>
                  <a:lnTo>
                    <a:pt x="7081316" y="3553460"/>
                  </a:lnTo>
                  <a:cubicBezTo>
                    <a:pt x="7207976" y="3450590"/>
                    <a:pt x="7280584" y="3307080"/>
                    <a:pt x="7280584" y="3155950"/>
                  </a:cubicBezTo>
                  <a:lnTo>
                    <a:pt x="7280584" y="542290"/>
                  </a:lnTo>
                  <a:cubicBezTo>
                    <a:pt x="7279313" y="242570"/>
                    <a:pt x="7001243" y="0"/>
                    <a:pt x="6657660" y="0"/>
                  </a:cubicBezTo>
                  <a:lnTo>
                    <a:pt x="621653" y="0"/>
                  </a:lnTo>
                  <a:cubicBezTo>
                    <a:pt x="2780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5"/>
              <a:stretch>
                <a:fillRect l="-20077" r="-20077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358588" y="1482827"/>
            <a:ext cx="9484514" cy="209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90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DESCRIPCION DEL PROYECTO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3126" y="5115038"/>
            <a:ext cx="6692284" cy="397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Este repositorio tiene como finalidad: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Centralizar distintos mods organizados por versión y leader.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Facilitar la instalación y uso de los mods mediante guías claras.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Aplicar una estructura ordenada y mantenible al proyecto.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Permitir la colaboración de la comunidad de forma segura.</a:t>
            </a:r>
          </a:p>
          <a:p>
            <a:pPr algn="l">
              <a:lnSpc>
                <a:spcPts val="2082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03696" y="1135427"/>
            <a:ext cx="8080607" cy="2688638"/>
          </a:xfrm>
          <a:custGeom>
            <a:avLst/>
            <a:gdLst/>
            <a:ahLst/>
            <a:cxnLst/>
            <a:rect l="l" t="t" r="r" b="b"/>
            <a:pathLst>
              <a:path w="8080607" h="2688638">
                <a:moveTo>
                  <a:pt x="0" y="0"/>
                </a:moveTo>
                <a:lnTo>
                  <a:pt x="8080608" y="0"/>
                </a:lnTo>
                <a:lnTo>
                  <a:pt x="8080608" y="2688639"/>
                </a:lnTo>
                <a:lnTo>
                  <a:pt x="0" y="268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91248" y="4650441"/>
            <a:ext cx="4224460" cy="3738228"/>
            <a:chOff x="0" y="0"/>
            <a:chExt cx="6661986" cy="58951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61986" cy="5895197"/>
            </a:xfrm>
            <a:custGeom>
              <a:avLst/>
              <a:gdLst/>
              <a:ahLst/>
              <a:cxnLst/>
              <a:rect l="l" t="t" r="r" b="b"/>
              <a:pathLst>
                <a:path w="6661986" h="5895197">
                  <a:moveTo>
                    <a:pt x="5596068" y="5895197"/>
                  </a:moveTo>
                  <a:lnTo>
                    <a:pt x="1065918" y="5895197"/>
                  </a:lnTo>
                  <a:cubicBezTo>
                    <a:pt x="476998" y="5895197"/>
                    <a:pt x="0" y="5684149"/>
                    <a:pt x="0" y="5423581"/>
                  </a:cubicBezTo>
                  <a:lnTo>
                    <a:pt x="0" y="471616"/>
                  </a:lnTo>
                  <a:cubicBezTo>
                    <a:pt x="0" y="211048"/>
                    <a:pt x="476998" y="0"/>
                    <a:pt x="1065918" y="0"/>
                  </a:cubicBezTo>
                  <a:lnTo>
                    <a:pt x="5596068" y="0"/>
                  </a:lnTo>
                  <a:cubicBezTo>
                    <a:pt x="6184988" y="0"/>
                    <a:pt x="6661986" y="211048"/>
                    <a:pt x="6661986" y="471616"/>
                  </a:cubicBezTo>
                  <a:lnTo>
                    <a:pt x="6661986" y="5423581"/>
                  </a:lnTo>
                  <a:cubicBezTo>
                    <a:pt x="6661986" y="5684149"/>
                    <a:pt x="6184988" y="5895197"/>
                    <a:pt x="5596068" y="5895197"/>
                  </a:cubicBezTo>
                  <a:close/>
                </a:path>
              </a:pathLst>
            </a:custGeom>
            <a:blipFill>
              <a:blip r:embed="rId5"/>
              <a:stretch>
                <a:fillRect l="-16409" r="-1640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36240" y="4650441"/>
            <a:ext cx="4447858" cy="3738228"/>
            <a:chOff x="0" y="0"/>
            <a:chExt cx="7960773" cy="66906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960773" cy="6690676"/>
            </a:xfrm>
            <a:custGeom>
              <a:avLst/>
              <a:gdLst/>
              <a:ahLst/>
              <a:cxnLst/>
              <a:rect l="l" t="t" r="r" b="b"/>
              <a:pathLst>
                <a:path w="7960773" h="6690676">
                  <a:moveTo>
                    <a:pt x="6687049" y="6690676"/>
                  </a:moveTo>
                  <a:lnTo>
                    <a:pt x="1273724" y="6690676"/>
                  </a:lnTo>
                  <a:cubicBezTo>
                    <a:pt x="569991" y="6690676"/>
                    <a:pt x="0" y="6451150"/>
                    <a:pt x="0" y="6155422"/>
                  </a:cubicBezTo>
                  <a:lnTo>
                    <a:pt x="0" y="535254"/>
                  </a:lnTo>
                  <a:cubicBezTo>
                    <a:pt x="0" y="239526"/>
                    <a:pt x="569991" y="0"/>
                    <a:pt x="1273724" y="0"/>
                  </a:cubicBezTo>
                  <a:lnTo>
                    <a:pt x="6687049" y="0"/>
                  </a:lnTo>
                  <a:cubicBezTo>
                    <a:pt x="7390782" y="0"/>
                    <a:pt x="7960773" y="239526"/>
                    <a:pt x="7960773" y="535254"/>
                  </a:cubicBezTo>
                  <a:lnTo>
                    <a:pt x="7960773" y="6155422"/>
                  </a:lnTo>
                  <a:cubicBezTo>
                    <a:pt x="7960773" y="6451150"/>
                    <a:pt x="7390782" y="6690676"/>
                    <a:pt x="6687049" y="6690676"/>
                  </a:cubicBezTo>
                  <a:close/>
                </a:path>
              </a:pathLst>
            </a:custGeom>
            <a:blipFill>
              <a:blip r:embed="rId6"/>
              <a:stretch>
                <a:fillRect l="-13148" r="-13148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279231" y="1808236"/>
            <a:ext cx="5996095" cy="152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6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TECNOLOGÍAS EMPLEADAS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95510" y="4650441"/>
            <a:ext cx="6985110" cy="435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Control de versiones</a:t>
            </a:r>
          </a:p>
          <a:p>
            <a:pPr algn="ctr">
              <a:lnSpc>
                <a:spcPts val="2999"/>
              </a:lnSpc>
            </a:pPr>
            <a:endParaRPr lang="en-US" sz="2499" b="1">
              <a:solidFill>
                <a:srgbClr val="C1FF72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  <a:p>
            <a:pPr marL="539748" lvl="1" indent="-269874" algn="just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Git:</a:t>
            </a: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Sistema de control de versiones distribuido que permite rastrear cambios, trabajar en ramas y colaborar eficientemente</a:t>
            </a:r>
          </a:p>
          <a:p>
            <a:pPr algn="just">
              <a:lnSpc>
                <a:spcPts val="2999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marL="539748" lvl="1" indent="-269874" algn="just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GitHub:</a:t>
            </a: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Plataforma de alojamiento del repositorio que facilita la colaboración mediante Issues, Pull Requests y documentación</a:t>
            </a:r>
          </a:p>
          <a:p>
            <a:pPr algn="ctr">
              <a:lnSpc>
                <a:spcPts val="2160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44100" y="3050053"/>
            <a:ext cx="7315200" cy="2433967"/>
          </a:xfrm>
          <a:custGeom>
            <a:avLst/>
            <a:gdLst/>
            <a:ahLst/>
            <a:cxnLst/>
            <a:rect l="l" t="t" r="r" b="b"/>
            <a:pathLst>
              <a:path w="7315200" h="2433967">
                <a:moveTo>
                  <a:pt x="0" y="0"/>
                </a:moveTo>
                <a:lnTo>
                  <a:pt x="7315200" y="0"/>
                </a:lnTo>
                <a:lnTo>
                  <a:pt x="7315200" y="2433967"/>
                </a:lnTo>
                <a:lnTo>
                  <a:pt x="0" y="24339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654251" y="3601557"/>
            <a:ext cx="6403344" cy="152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6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ESTRUCTURA DEL REPOSITORIO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44100" y="6212541"/>
            <a:ext cx="7315200" cy="249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El repositorio contiene una colección de mods desarrollados por terceros con su respectiva documentación sobre su uso y organizados jerárquicamente para facilitar la navegación y evitar incompatibilidades.</a:t>
            </a:r>
          </a:p>
          <a:p>
            <a:pPr algn="l">
              <a:lnSpc>
                <a:spcPts val="2160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2398" y="205555"/>
            <a:ext cx="9771702" cy="978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JAVA/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├── VANILLA/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1.0–1.5/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1.6–1.8/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1.9–1.12/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1.13–1.16/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1.17/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1.18/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1.19/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1.20/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│   ├── 1.20.0/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│   ├── 1.20.1/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│   ├── 1.20.2/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│   ├── 1.20.3/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│   ├── 1.20.4/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│   ├── 1.20.5/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│   └── 1.20.6/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└── 1.21/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    ├── SNAPSHOTS/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    └── RELEASES/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├── FABRIC/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1.14–1.16/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1.17/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1.18/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1.19/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1.20/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└── 1.21/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├── NEOFORGE/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├── 1.20/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   └── 1.21/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│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└── SHADERS/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   ├── 1.7–1.12/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   ├── 1.13–1.16/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   ├── 1.17–1.20/</a:t>
            </a:r>
          </a:p>
          <a:p>
            <a:pPr algn="ctr">
              <a:lnSpc>
                <a:spcPts val="2044"/>
              </a:lnSpc>
              <a:spcBef>
                <a:spcPct val="0"/>
              </a:spcBef>
            </a:pPr>
            <a:r>
              <a:rPr lang="en-US" sz="146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   └── 1.21/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322038" y="4685820"/>
            <a:ext cx="6821962" cy="2050532"/>
          </a:xfrm>
          <a:custGeom>
            <a:avLst/>
            <a:gdLst/>
            <a:ahLst/>
            <a:cxnLst/>
            <a:rect l="l" t="t" r="r" b="b"/>
            <a:pathLst>
              <a:path w="6821962" h="2050532">
                <a:moveTo>
                  <a:pt x="0" y="0"/>
                </a:moveTo>
                <a:lnTo>
                  <a:pt x="6821962" y="0"/>
                </a:lnTo>
                <a:lnTo>
                  <a:pt x="6821962" y="2050532"/>
                </a:lnTo>
                <a:lnTo>
                  <a:pt x="0" y="2050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649531" y="1219200"/>
            <a:ext cx="7789063" cy="152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6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DOCUMENTACION DEL REPOSITORIO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28036" y="3004185"/>
            <a:ext cx="517984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ARCHIVO README.MD PRINCIPAL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428036" y="3584893"/>
            <a:ext cx="5179844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El README del repositorio es el documento más importante y la primera impresión para cualquier usuario. Incluye: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428036" y="5840600"/>
            <a:ext cx="393042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DESCRIPCIÓN GENERAL: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03918" y="6420317"/>
            <a:ext cx="5179844" cy="249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Qué es el repositorio y su propósito</a:t>
            </a:r>
          </a:p>
          <a:p>
            <a:pPr marL="539749" lvl="1" indent="-269875" algn="just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Público objetivo (usuarios novatos)</a:t>
            </a:r>
          </a:p>
          <a:p>
            <a:pPr marL="539749" lvl="1" indent="-269875" algn="just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Beneficios de usar este repositorio</a:t>
            </a:r>
          </a:p>
          <a:p>
            <a:pPr algn="l">
              <a:lnSpc>
                <a:spcPts val="2160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250638"/>
            <a:ext cx="8088697" cy="2691330"/>
          </a:xfrm>
          <a:custGeom>
            <a:avLst/>
            <a:gdLst/>
            <a:ahLst/>
            <a:cxnLst/>
            <a:rect l="l" t="t" r="r" b="b"/>
            <a:pathLst>
              <a:path w="8088697" h="2691330">
                <a:moveTo>
                  <a:pt x="0" y="0"/>
                </a:moveTo>
                <a:lnTo>
                  <a:pt x="8088697" y="0"/>
                </a:lnTo>
                <a:lnTo>
                  <a:pt x="8088697" y="2691330"/>
                </a:lnTo>
                <a:lnTo>
                  <a:pt x="0" y="2691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330374" y="4281544"/>
            <a:ext cx="8377161" cy="4493496"/>
            <a:chOff x="0" y="0"/>
            <a:chExt cx="11838216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839486" cy="6350000"/>
            </a:xfrm>
            <a:custGeom>
              <a:avLst/>
              <a:gdLst/>
              <a:ahLst/>
              <a:cxnLst/>
              <a:rect l="l" t="t" r="r" b="b"/>
              <a:pathLst>
                <a:path w="11839486" h="6350000">
                  <a:moveTo>
                    <a:pt x="11158702" y="0"/>
                  </a:moveTo>
                  <a:lnTo>
                    <a:pt x="679514" y="0"/>
                  </a:lnTo>
                  <a:cubicBezTo>
                    <a:pt x="303058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303058" y="6350000"/>
                    <a:pt x="679514" y="6350000"/>
                  </a:cubicBezTo>
                  <a:lnTo>
                    <a:pt x="11161071" y="6350000"/>
                  </a:lnTo>
                  <a:cubicBezTo>
                    <a:pt x="11535158" y="6350000"/>
                    <a:pt x="11839486" y="6187440"/>
                    <a:pt x="11839486" y="5985510"/>
                  </a:cubicBezTo>
                  <a:lnTo>
                    <a:pt x="11839486" y="364490"/>
                  </a:lnTo>
                  <a:cubicBezTo>
                    <a:pt x="11838216" y="162560"/>
                    <a:pt x="11535158" y="0"/>
                    <a:pt x="11158702" y="0"/>
                  </a:cubicBezTo>
                  <a:close/>
                </a:path>
              </a:pathLst>
            </a:custGeom>
            <a:blipFill>
              <a:blip r:embed="rId5"/>
              <a:stretch>
                <a:fillRect l="-12675" r="-12675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814909" y="930823"/>
            <a:ext cx="6800084" cy="152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6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CONTROL DE VERSIONES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9406" y="1596303"/>
            <a:ext cx="7834536" cy="842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Los commits siguen una filosofía </a:t>
            </a: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atómica y descriptiva</a:t>
            </a: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: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Commits atómicos: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Cada commit representa un cambio lógico único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Facilita la revisión de historial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Permite revertir cambios específicos sin afectar otros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Mensajes descriptivos: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Formato: [Categoría] Descripción breve del cambio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Ejemplos:</a:t>
            </a:r>
          </a:p>
          <a:p>
            <a:pPr marL="1079499" lvl="2" indent="-359833" algn="l">
              <a:lnSpc>
                <a:spcPts val="2999"/>
              </a:lnSpc>
              <a:buFont typeface="Arial"/>
              <a:buChar char="⚬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[Docs] Actualizar README con sección de loaders</a:t>
            </a:r>
          </a:p>
          <a:p>
            <a:pPr marL="1079499" lvl="2" indent="-359833" algn="l">
              <a:lnSpc>
                <a:spcPts val="2999"/>
              </a:lnSpc>
              <a:buFont typeface="Arial"/>
              <a:buChar char="⚬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[Mods] Añadir Sodium 0.5.8 para Fabric 1.20</a:t>
            </a:r>
          </a:p>
          <a:p>
            <a:pPr marL="1079499" lvl="2" indent="-359833" algn="l">
              <a:lnSpc>
                <a:spcPts val="2999"/>
              </a:lnSpc>
              <a:buFont typeface="Arial"/>
              <a:buChar char="⚬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[Fix] Corregir enlace roto en CONTRIBUTING.md</a:t>
            </a:r>
          </a:p>
          <a:p>
            <a:pPr algn="l">
              <a:lnSpc>
                <a:spcPts val="2067"/>
              </a:lnSpc>
            </a:pPr>
            <a:endParaRPr lang="en-US" sz="2499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65151" y="1165273"/>
            <a:ext cx="7994149" cy="2659871"/>
          </a:xfrm>
          <a:custGeom>
            <a:avLst/>
            <a:gdLst/>
            <a:ahLst/>
            <a:cxnLst/>
            <a:rect l="l" t="t" r="r" b="b"/>
            <a:pathLst>
              <a:path w="7994149" h="2659871">
                <a:moveTo>
                  <a:pt x="0" y="0"/>
                </a:moveTo>
                <a:lnTo>
                  <a:pt x="7994149" y="0"/>
                </a:lnTo>
                <a:lnTo>
                  <a:pt x="7994149" y="2659871"/>
                </a:lnTo>
                <a:lnTo>
                  <a:pt x="0" y="26598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74521" y="3279621"/>
            <a:ext cx="5572546" cy="5572546"/>
          </a:xfrm>
          <a:custGeom>
            <a:avLst/>
            <a:gdLst/>
            <a:ahLst/>
            <a:cxnLst/>
            <a:rect l="l" t="t" r="r" b="b"/>
            <a:pathLst>
              <a:path w="5572546" h="5572546">
                <a:moveTo>
                  <a:pt x="0" y="0"/>
                </a:moveTo>
                <a:lnTo>
                  <a:pt x="5572546" y="0"/>
                </a:lnTo>
                <a:lnTo>
                  <a:pt x="5572546" y="5572546"/>
                </a:lnTo>
                <a:lnTo>
                  <a:pt x="0" y="5572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607924" y="1949363"/>
            <a:ext cx="7651376" cy="124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5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GESTIÓN DEL PROYECTO CON ISSUES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07924" y="4579994"/>
            <a:ext cx="7651376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Uso de Issues</a:t>
            </a:r>
          </a:p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Los Issues son una herramienta fundamental de GitHub que permite registrar: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Tareas pendientes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Errores detectados (bugs)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Propuestas de mejora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Solicitudes de nuevos mods</a:t>
            </a:r>
          </a:p>
          <a:p>
            <a:pPr algn="l">
              <a:lnSpc>
                <a:spcPts val="2999"/>
              </a:lnSpc>
            </a:pPr>
            <a:endParaRPr lang="en-US" sz="2499" b="1">
              <a:solidFill>
                <a:srgbClr val="C1FF72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04229" y="1281939"/>
            <a:ext cx="7315200" cy="2433967"/>
          </a:xfrm>
          <a:custGeom>
            <a:avLst/>
            <a:gdLst/>
            <a:ahLst/>
            <a:cxnLst/>
            <a:rect l="l" t="t" r="r" b="b"/>
            <a:pathLst>
              <a:path w="7315200" h="2433967">
                <a:moveTo>
                  <a:pt x="0" y="0"/>
                </a:moveTo>
                <a:lnTo>
                  <a:pt x="7315200" y="0"/>
                </a:lnTo>
                <a:lnTo>
                  <a:pt x="7315200" y="2433967"/>
                </a:lnTo>
                <a:lnTo>
                  <a:pt x="0" y="24339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939429" y="4997933"/>
            <a:ext cx="8521577" cy="3646735"/>
          </a:xfrm>
          <a:custGeom>
            <a:avLst/>
            <a:gdLst/>
            <a:ahLst/>
            <a:cxnLst/>
            <a:rect l="l" t="t" r="r" b="b"/>
            <a:pathLst>
              <a:path w="8521577" h="3646735">
                <a:moveTo>
                  <a:pt x="0" y="0"/>
                </a:moveTo>
                <a:lnTo>
                  <a:pt x="8521577" y="0"/>
                </a:lnTo>
                <a:lnTo>
                  <a:pt x="8521577" y="3646735"/>
                </a:lnTo>
                <a:lnTo>
                  <a:pt x="0" y="36467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311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536052" y="1833442"/>
            <a:ext cx="6403344" cy="152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6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COLABORACIÓN COMUNITARIA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5288" y="4778188"/>
            <a:ext cx="7965141" cy="408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Modelo colaborativo</a:t>
            </a:r>
          </a:p>
          <a:p>
            <a:pPr algn="l">
              <a:lnSpc>
                <a:spcPts val="2999"/>
              </a:lnSpc>
            </a:pPr>
            <a:endParaRPr lang="en-US" sz="2499" b="1">
              <a:solidFill>
                <a:srgbClr val="C1FF72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El repositorio está diseñado como proyecto de código abierto: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Cualquiera puede contribuir mediante Pull Requests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Las contribuciones son revisadas antes de aceptarse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Se fomenta la participación de la comunidad</a:t>
            </a:r>
          </a:p>
          <a:p>
            <a:pPr algn="l">
              <a:lnSpc>
                <a:spcPts val="2999"/>
              </a:lnSpc>
            </a:pPr>
            <a:endParaRPr lang="en-US" sz="2499" b="1">
              <a:solidFill>
                <a:srgbClr val="C1FF72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64524" y="690070"/>
            <a:ext cx="7315200" cy="2433967"/>
          </a:xfrm>
          <a:custGeom>
            <a:avLst/>
            <a:gdLst/>
            <a:ahLst/>
            <a:cxnLst/>
            <a:rect l="l" t="t" r="r" b="b"/>
            <a:pathLst>
              <a:path w="7315200" h="2433967">
                <a:moveTo>
                  <a:pt x="0" y="0"/>
                </a:moveTo>
                <a:lnTo>
                  <a:pt x="7315200" y="0"/>
                </a:lnTo>
                <a:lnTo>
                  <a:pt x="7315200" y="2433967"/>
                </a:lnTo>
                <a:lnTo>
                  <a:pt x="0" y="24339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42328" y="1219200"/>
            <a:ext cx="6403344" cy="79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6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CONCLUSIÓN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58268" y="3630382"/>
            <a:ext cx="13138397" cy="610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4232" lvl="1" indent="-272116" algn="l">
              <a:lnSpc>
                <a:spcPts val="3024"/>
              </a:lnSpc>
              <a:buFont typeface="Arial"/>
              <a:buChar char="•"/>
            </a:pPr>
            <a:r>
              <a:rPr lang="en-US" sz="252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Este proyecto ha permitido aplicar de forma práctica los conceptos de control de versiones, trabajo colaborativo y gestión de proyectos software en un caso de uso real y útil para la comunidad de jugadores de Minecraft.</a:t>
            </a:r>
          </a:p>
          <a:p>
            <a:pPr algn="l">
              <a:lnSpc>
                <a:spcPts val="3024"/>
              </a:lnSpc>
            </a:pPr>
            <a:endParaRPr lang="en-US" sz="252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marL="544232" lvl="1" indent="-272116" algn="l">
              <a:lnSpc>
                <a:spcPts val="3024"/>
              </a:lnSpc>
              <a:buFont typeface="Arial"/>
              <a:buChar char="•"/>
            </a:pPr>
            <a:r>
              <a:rPr lang="en-US" sz="252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Se ha logrado crear un repositorio bien estructurado, con documentación completa y un sistema de colaboración funcional que facilita la contribución comunitaria. La organización jerárquica por loader y versión resuelve efectivamente el problema de compatibilidad que enfrentan los usuarios novatos.</a:t>
            </a:r>
          </a:p>
          <a:p>
            <a:pPr algn="l">
              <a:lnSpc>
                <a:spcPts val="3024"/>
              </a:lnSpc>
            </a:pPr>
            <a:endParaRPr lang="en-US" sz="252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marL="544232" lvl="1" indent="-272116" algn="l">
              <a:lnSpc>
                <a:spcPts val="3024"/>
              </a:lnSpc>
              <a:buFont typeface="Arial"/>
              <a:buChar char="•"/>
            </a:pPr>
            <a:r>
              <a:rPr lang="en-US" sz="252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El uso de Git y GitHub no solo ha permitido mantener un historial claro de cambios, sino que también ha facilitado la implementación de un flujo de trabajo profesional mediante branches, Pull Requests e Issues.</a:t>
            </a:r>
          </a:p>
          <a:p>
            <a:pPr algn="l">
              <a:lnSpc>
                <a:spcPts val="3024"/>
              </a:lnSpc>
            </a:pPr>
            <a:endParaRPr lang="en-US" sz="252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l">
              <a:lnSpc>
                <a:spcPts val="3024"/>
              </a:lnSpc>
            </a:pPr>
            <a:endParaRPr lang="en-US" sz="252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95273" y="2703174"/>
            <a:ext cx="9225287" cy="1171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48"/>
              </a:lnSpc>
            </a:pPr>
            <a:r>
              <a:rPr lang="en-US" sz="96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PARTICIPANTES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26864" y="5436248"/>
            <a:ext cx="3147807" cy="1791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-7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BERTA PENA HERNÁNDEZ</a:t>
            </a:r>
          </a:p>
          <a:p>
            <a:pPr algn="l">
              <a:lnSpc>
                <a:spcPts val="4481"/>
              </a:lnSpc>
            </a:pPr>
            <a:endParaRPr lang="en-US" sz="3500" b="1" spc="-70">
              <a:solidFill>
                <a:srgbClr val="C1FF72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570096" y="5436248"/>
            <a:ext cx="3147807" cy="1791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-7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MARIO FUERTES LÓPEZ</a:t>
            </a:r>
          </a:p>
          <a:p>
            <a:pPr algn="l">
              <a:lnSpc>
                <a:spcPts val="4481"/>
              </a:lnSpc>
            </a:pPr>
            <a:endParaRPr lang="en-US" sz="3500" b="1" spc="-70">
              <a:solidFill>
                <a:srgbClr val="C1FF72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211271" y="5436248"/>
            <a:ext cx="3596042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-7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ARMANDO SHUGULI TUFIÑO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963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 dirty="0"/>
          </a:p>
        </p:txBody>
      </p:sp>
      <p:sp>
        <p:nvSpPr>
          <p:cNvPr id="3" name="TextBox 3"/>
          <p:cNvSpPr txBox="1"/>
          <p:nvPr/>
        </p:nvSpPr>
        <p:spPr>
          <a:xfrm>
            <a:off x="3360660" y="3718937"/>
            <a:ext cx="11566680" cy="255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28"/>
              </a:lnSpc>
              <a:spcBef>
                <a:spcPct val="0"/>
              </a:spcBef>
            </a:pPr>
            <a:r>
              <a:rPr lang="en-US" sz="14877" dirty="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GRACIAS</a:t>
            </a:r>
          </a:p>
        </p:txBody>
      </p:sp>
      <p:sp>
        <p:nvSpPr>
          <p:cNvPr id="4" name="Freeform 4"/>
          <p:cNvSpPr/>
          <p:nvPr/>
        </p:nvSpPr>
        <p:spPr>
          <a:xfrm>
            <a:off x="2795345" y="3092795"/>
            <a:ext cx="3423515" cy="2798724"/>
          </a:xfrm>
          <a:custGeom>
            <a:avLst/>
            <a:gdLst/>
            <a:ahLst/>
            <a:cxnLst/>
            <a:rect l="l" t="t" r="r" b="b"/>
            <a:pathLst>
              <a:path w="3423515" h="2798724">
                <a:moveTo>
                  <a:pt x="0" y="0"/>
                </a:moveTo>
                <a:lnTo>
                  <a:pt x="3423516" y="0"/>
                </a:lnTo>
                <a:lnTo>
                  <a:pt x="3423516" y="2798724"/>
                </a:lnTo>
                <a:lnTo>
                  <a:pt x="0" y="2798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2069139" y="3092795"/>
            <a:ext cx="3423515" cy="2798724"/>
          </a:xfrm>
          <a:custGeom>
            <a:avLst/>
            <a:gdLst/>
            <a:ahLst/>
            <a:cxnLst/>
            <a:rect l="l" t="t" r="r" b="b"/>
            <a:pathLst>
              <a:path w="3423515" h="2798724">
                <a:moveTo>
                  <a:pt x="3423516" y="0"/>
                </a:moveTo>
                <a:lnTo>
                  <a:pt x="0" y="0"/>
                </a:lnTo>
                <a:lnTo>
                  <a:pt x="0" y="2798724"/>
                </a:lnTo>
                <a:lnTo>
                  <a:pt x="3423516" y="2798724"/>
                </a:lnTo>
                <a:lnTo>
                  <a:pt x="3423516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5063866"/>
            <a:ext cx="637073" cy="159268"/>
          </a:xfrm>
          <a:custGeom>
            <a:avLst/>
            <a:gdLst/>
            <a:ahLst/>
            <a:cxnLst/>
            <a:rect l="l" t="t" r="r" b="b"/>
            <a:pathLst>
              <a:path w="637073" h="159268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622227" y="5063866"/>
            <a:ext cx="637073" cy="159268"/>
          </a:xfrm>
          <a:custGeom>
            <a:avLst/>
            <a:gdLst/>
            <a:ahLst/>
            <a:cxnLst/>
            <a:rect l="l" t="t" r="r" b="b"/>
            <a:pathLst>
              <a:path w="637073" h="159268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944100" y="8180971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028700" y="8180971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7315200" y="0"/>
                </a:moveTo>
                <a:lnTo>
                  <a:pt x="0" y="0"/>
                </a:lnTo>
                <a:lnTo>
                  <a:pt x="0" y="1077329"/>
                </a:lnTo>
                <a:lnTo>
                  <a:pt x="7315200" y="10773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630</Words>
  <Application>Microsoft Office PowerPoint</Application>
  <PresentationFormat>Personalizado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Anonymous Pro</vt:lpstr>
      <vt:lpstr>Calibri</vt:lpstr>
      <vt:lpstr>Arial</vt:lpstr>
      <vt:lpstr>Anonymous Pro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Repositorio colaborativo de Mods en Minecraft.</dc:title>
  <cp:lastModifiedBy>Junior Shuguli</cp:lastModifiedBy>
  <cp:revision>2</cp:revision>
  <dcterms:created xsi:type="dcterms:W3CDTF">2006-08-16T00:00:00Z</dcterms:created>
  <dcterms:modified xsi:type="dcterms:W3CDTF">2026-01-26T22:40:21Z</dcterms:modified>
  <dc:identifier>DAG_iiZwmBg</dc:identifier>
</cp:coreProperties>
</file>